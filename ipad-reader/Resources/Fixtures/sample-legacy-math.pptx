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88" r:id="rId1"/>
  </p:sldMasterIdLst>
  <p:notesMasterIdLst>
    <p:notesMasterId r:id="rId30"/>
  </p:notesMasterIdLst>
  <p:handoutMasterIdLst>
    <p:handoutMasterId r:id="rId31"/>
  </p:handoutMasterIdLst>
  <p:sldIdLst>
    <p:sldId id="256" r:id="rId1"/>
    <p:sldId id="257" r:id="rId2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ns3:sldGuideLst>
        <ns3:guide id="1" orient="horz" pos="2160">
          <ns3:clr>
            <a:srgbClr val="A4A3A4"/>
          </ns3:clr>
        </ns3:guide>
        <ns3:guide id="2" pos="2880">
          <ns3:clr>
            <a:srgbClr val="A4A3A4"/>
          </ns3:clr>
        </ns3:guide>
      </ns3:sldGuideLst>
    </p:ext>
  </p:extLst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slides/slide3.xml" /><ns0:Relationship Id="rId2" Type="http://schemas.openxmlformats.org/officeDocument/2006/relationships/slide" Target="slides/slide5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525588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7493000" y="3451225"/>
            <a:ext cx="1338263" cy="2189163"/>
            <a:chOff x="4704" y="1885"/>
            <a:chExt cx="843" cy="1379"/>
          </a:xfrm>
        </p:grpSpPr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Oval 11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Oval 12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2" name="Oval 23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Oval 24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4" name="Oval 25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5" name="Oval 26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6" name="Oval 27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" name="Oval 28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8" name="Oval 29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" name="Oval 30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0" name="Oval 31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1" name="Oval 32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" name="Oval 33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3" name="Oval 34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4" name="Oval 35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5" name="Oval 36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6" name="Oval 37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7" name="Line 38"/>
          <p:cNvSpPr>
            <a:spLocks noChangeShapeType="1"/>
          </p:cNvSpPr>
          <p:nvPr/>
        </p:nvSpPr>
        <p:spPr bwMode="auto">
          <a:xfrm>
            <a:off x="304800" y="3278188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8" name="Text Box 50"/>
          <p:cNvSpPr txBox="1">
            <a:spLocks noChangeArrowheads="1"/>
          </p:cNvSpPr>
          <p:nvPr userDrawn="1"/>
        </p:nvSpPr>
        <p:spPr bwMode="auto">
          <a:xfrm>
            <a:off x="8748713" y="6553200"/>
            <a:ext cx="3952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fld id="{AD831497-3BB3-4F0F-9976-3853021DCF46}" type="slidenum">
              <a:rPr lang="en-US" altLang="zh-CN" sz="1400">
                <a:solidFill>
                  <a:srgbClr val="022ACA"/>
                </a:solidFill>
                <a:latin typeface="Times New Roman" pitchFamily="18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CN" sz="1400">
              <a:solidFill>
                <a:srgbClr val="022ACA"/>
              </a:solidFill>
              <a:latin typeface="Times New Roman" pitchFamily="18" charset="0"/>
            </a:endParaRP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1052513"/>
            <a:ext cx="6781800" cy="2006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22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508375"/>
            <a:ext cx="6248400" cy="2362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76250"/>
            <a:ext cx="2057400" cy="56546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76250"/>
            <a:ext cx="6019800" cy="56546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76250"/>
            <a:ext cx="8229600" cy="5654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76250"/>
            <a:ext cx="7543800" cy="7207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719263"/>
            <a:ext cx="4038600" cy="21288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21304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'1.0' encoding='utf-8'?>
<ns0:Relationships xmlns:ns0="http://schemas.openxmlformats.org/package/2006/relationships"><ns0:Relationship Id="rId8" Type="http://schemas.openxmlformats.org/officeDocument/2006/relationships/slideLayout" Target="../slideLayouts/slideLayout8.xml" /><ns0:Relationship Id="rId13" Type="http://schemas.openxmlformats.org/officeDocument/2006/relationships/slideLayout" Target="../slideLayouts/slideLayout13.xml" /><ns0:Relationship Id="rId3" Type="http://schemas.openxmlformats.org/officeDocument/2006/relationships/slideLayout" Target="../slideLayouts/slideLayout3.xml" /><ns0:Relationship Id="rId7" Type="http://schemas.openxmlformats.org/officeDocument/2006/relationships/slideLayout" Target="../slideLayouts/slideLayout7.xml" /><ns0:Relationship Id="rId12" Type="http://schemas.openxmlformats.org/officeDocument/2006/relationships/slideLayout" Target="../slideLayouts/slideLayout12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6" Type="http://schemas.openxmlformats.org/officeDocument/2006/relationships/slideLayout" Target="../slideLayouts/slideLayout6.xml" /><ns0:Relationship Id="rId11" Type="http://schemas.openxmlformats.org/officeDocument/2006/relationships/slideLayout" Target="../slideLayouts/slideLayout11.xml" /><ns0:Relationship Id="rId5" Type="http://schemas.openxmlformats.org/officeDocument/2006/relationships/slideLayout" Target="../slideLayouts/slideLayout5.xml" /><ns0:Relationship Id="rId10" Type="http://schemas.openxmlformats.org/officeDocument/2006/relationships/slideLayout" Target="../slideLayouts/slideLayout10.xml" /><ns0:Relationship Id="rId4" Type="http://schemas.openxmlformats.org/officeDocument/2006/relationships/slideLayout" Target="../slideLayouts/slideLayout4.xml" /><ns0:Relationship Id="rId9" Type="http://schemas.openxmlformats.org/officeDocument/2006/relationships/slideLayout" Target="../slideLayouts/slideLayout9.xml" /><ns0:Relationship Id="rId14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Line 2"/>
          <p:cNvSpPr>
            <a:spLocks noChangeShapeType="1"/>
          </p:cNvSpPr>
          <p:nvPr/>
        </p:nvSpPr>
        <p:spPr bwMode="auto">
          <a:xfrm>
            <a:off x="7962900" y="152400"/>
            <a:ext cx="0" cy="145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76250"/>
            <a:ext cx="75438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grpSp>
        <p:nvGrpSpPr>
          <p:cNvPr id="6149" name="Group 5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521222" name="Oval 6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23" name="Oval 7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24" name="Oval 8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25" name="Oval 9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26" name="Oval 10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27" name="Oval 11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28" name="Oval 12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29" name="Oval 13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0" name="Oval 14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1" name="Oval 15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2" name="Oval 16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3" name="Oval 17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4" name="Oval 18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5" name="Oval 19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6" name="Oval 20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7" name="Oval 21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8" name="Oval 22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39" name="Oval 23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0" name="Oval 24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1" name="Oval 25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2" name="Oval 26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3" name="Oval 27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4" name="Oval 28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5" name="Oval 29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6" name="Oval 30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7" name="Oval 31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8" name="Oval 32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49" name="Oval 33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50" name="Oval 34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51" name="Oval 35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1252" name="Oval 36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521264" name="Text Box 48"/>
          <p:cNvSpPr txBox="1">
            <a:spLocks noChangeArrowheads="1"/>
          </p:cNvSpPr>
          <p:nvPr userDrawn="1"/>
        </p:nvSpPr>
        <p:spPr bwMode="auto">
          <a:xfrm>
            <a:off x="8748713" y="6553200"/>
            <a:ext cx="3952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fld id="{97CE5265-9347-4490-AFE9-5CA814061D0D}" type="slidenum">
              <a:rPr lang="en-US" altLang="zh-CN" sz="1400">
                <a:solidFill>
                  <a:srgbClr val="022ACA"/>
                </a:solidFill>
                <a:latin typeface="Times New Roman" pitchFamily="18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CN" sz="1400">
              <a:solidFill>
                <a:srgbClr val="022ACA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FF0000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70000"/>
        <a:buFont typeface="Wingdings" pitchFamily="2" charset="2"/>
        <a:buChar char="l"/>
        <a:defRPr sz="3000" b="1">
          <a:solidFill>
            <a:srgbClr val="000099"/>
          </a:solidFill>
          <a:latin typeface="+mn-lt"/>
          <a:ea typeface="+mn-ea"/>
          <a:cs typeface="+mn-cs"/>
        </a:defRPr>
      </a:lvl1pPr>
      <a:lvl2pPr marL="692150" indent="-347663" algn="just" rtl="0" eaLnBrk="0" fontAlgn="base" hangingPunct="0">
        <a:spcBef>
          <a:spcPct val="20000"/>
        </a:spcBef>
        <a:spcAft>
          <a:spcPct val="0"/>
        </a:spcAft>
        <a:buClr>
          <a:srgbClr val="CC00FF"/>
        </a:buClr>
        <a:buSzPct val="70000"/>
        <a:buFont typeface="Wingdings" pitchFamily="2" charset="2"/>
        <a:buChar char="l"/>
        <a:defRPr sz="2600" b="1">
          <a:solidFill>
            <a:srgbClr val="CC00FF"/>
          </a:solidFill>
          <a:latin typeface="+mn-lt"/>
          <a:ea typeface="+mn-ea"/>
        </a:defRPr>
      </a:lvl2pPr>
      <a:lvl3pPr marL="987425" indent="-293688" algn="just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just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just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just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just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just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just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4.wmf" /><ns0:Relationship Id="rId18" Type="http://schemas.openxmlformats.org/officeDocument/2006/relationships/image" Target="../media/image9.wmf" /><ns0:Relationship Id="rId12" Type="http://schemas.openxmlformats.org/officeDocument/2006/relationships/image" Target="../media/image6.wmf" /><ns0:Relationship Id="rId2" Type="http://schemas.openxmlformats.org/officeDocument/2006/relationships/slideLayout" Target="../slideLayouts/slideLayout6.xml" /><ns0:Relationship Id="rId16" Type="http://schemas.openxmlformats.org/officeDocument/2006/relationships/image" Target="../media/image8.wmf" /><ns0:Relationship Id="rId6" Type="http://schemas.openxmlformats.org/officeDocument/2006/relationships/image" Target="../media/image3.wmf" /><ns0:Relationship Id="rId10" Type="http://schemas.openxmlformats.org/officeDocument/2006/relationships/image" Target="../media/image5.wmf" /><ns0:Relationship Id="rId4" Type="http://schemas.openxmlformats.org/officeDocument/2006/relationships/image" Target="../media/image2.wmf" /><ns0:Relationship Id="rId14" Type="http://schemas.openxmlformats.org/officeDocument/2006/relationships/image" Target="../media/image7.wmf" /></ns0: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65002" y="476672"/>
            <a:ext cx="6858000" cy="685800"/>
          </a:xfrm>
        </p:spPr>
        <p:txBody>
          <a:bodyPr/>
          <a:lstStyle/>
          <a:p>
            <a:pPr eaLnBrk="1" hangingPunct="1"/>
            <a:r>
              <a:rPr lang="en-US" altLang="zh-CN" sz="2800" smtClean="0">
                <a:solidFill>
                  <a:srgbClr val="000099"/>
                </a:solidFill>
                <a:latin typeface="+mn-lt"/>
              </a:rPr>
              <a:t>equilibrium state </a:t>
            </a:r>
            <a:r>
              <a:rPr lang="en-US" altLang="zh-CN" sz="2800" smtClean="0">
                <a:solidFill>
                  <a:srgbClr val="000099"/>
                </a:solidFill>
                <a:latin typeface="+mn-lt"/>
                <a:sym typeface="Symbol" pitchFamily="18" charset="2"/>
              </a:rPr>
              <a:t></a:t>
            </a:r>
            <a:r>
              <a:rPr lang="en-US" altLang="zh-CN" sz="2800" smtClean="0">
                <a:solidFill>
                  <a:srgbClr val="000099"/>
                </a:solidFill>
                <a:latin typeface="+mn-lt"/>
              </a:rPr>
              <a:t> Zero initial condition</a:t>
            </a:r>
            <a:endParaRPr lang="en-US" altLang="zh-CN" sz="2800" smtClean="0">
              <a:solidFill>
                <a:srgbClr val="000099"/>
              </a:solidFill>
              <a:latin typeface="+mn-lt"/>
              <a:sym typeface="Symbol" pitchFamily="18" charset="2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20552" y="2370559"/>
            <a:ext cx="5878513" cy="1081088"/>
            <a:chOff x="902" y="528"/>
            <a:chExt cx="3703" cy="681"/>
          </a:xfrm>
        </p:grpSpPr>
        <p:sp>
          <p:nvSpPr>
            <p:cNvPr id="22548" name="Text Box 4"/>
            <p:cNvSpPr txBox="1">
              <a:spLocks noChangeArrowheads="1"/>
            </p:cNvSpPr>
            <p:nvPr/>
          </p:nvSpPr>
          <p:spPr bwMode="auto">
            <a:xfrm>
              <a:off x="902" y="756"/>
              <a:ext cx="145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800" b="1">
                  <a:solidFill>
                    <a:srgbClr val="000099"/>
                  </a:solidFill>
                  <a:latin typeface="+mn-lt"/>
                </a:rPr>
                <a:t>Output  C(t)=</a:t>
              </a:r>
            </a:p>
          </p:txBody>
        </p:sp>
        <p:sp>
          <p:nvSpPr>
            <p:cNvPr id="22549" name="AutoShape 5"/>
            <p:cNvSpPr>
              <a:spLocks/>
            </p:cNvSpPr>
            <p:nvPr/>
          </p:nvSpPr>
          <p:spPr bwMode="auto">
            <a:xfrm>
              <a:off x="2400" y="672"/>
              <a:ext cx="144" cy="480"/>
            </a:xfrm>
            <a:prstGeom prst="leftBrace">
              <a:avLst>
                <a:gd name="adj1" fmla="val 27778"/>
                <a:gd name="adj2" fmla="val 50000"/>
              </a:avLst>
            </a:prstGeom>
            <a:noFill/>
            <a:ln w="38100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22550" name="Text Box 6"/>
            <p:cNvSpPr txBox="1">
              <a:spLocks noChangeArrowheads="1"/>
            </p:cNvSpPr>
            <p:nvPr/>
          </p:nvSpPr>
          <p:spPr bwMode="auto">
            <a:xfrm>
              <a:off x="2592" y="528"/>
              <a:ext cx="2013" cy="6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2800" b="1">
                  <a:solidFill>
                    <a:srgbClr val="000099"/>
                  </a:solidFill>
                  <a:latin typeface="+mn-lt"/>
                </a:rPr>
                <a:t>Steady-state part=0</a:t>
              </a:r>
            </a:p>
            <a:p>
              <a:pPr algn="l">
                <a:lnSpc>
                  <a:spcPct val="120000"/>
                </a:lnSpc>
              </a:pPr>
              <a:r>
                <a:rPr lang="en-US" altLang="zh-CN" sz="2800" b="1">
                  <a:solidFill>
                    <a:srgbClr val="000099"/>
                  </a:solidFill>
                  <a:latin typeface="+mn-lt"/>
                </a:rPr>
                <a:t>Transient part</a:t>
              </a:r>
            </a:p>
          </p:txBody>
        </p:sp>
      </p:grp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965002" y="1772072"/>
            <a:ext cx="47420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800" b="1">
                <a:solidFill>
                  <a:srgbClr val="000099"/>
                </a:solidFill>
                <a:latin typeface="+mn-lt"/>
              </a:rPr>
              <a:t>Disturbance </a:t>
            </a:r>
            <a:r>
              <a:rPr lang="en-US" altLang="zh-CN" sz="2800" b="1">
                <a:solidFill>
                  <a:srgbClr val="000099"/>
                </a:solidFill>
                <a:latin typeface="+mn-lt"/>
                <a:sym typeface="Symbol" pitchFamily="18" charset="2"/>
              </a:rPr>
              <a:t>Impulse  input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2825552" y="3665959"/>
            <a:ext cx="33687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800" b="1">
                <a:solidFill>
                  <a:srgbClr val="000099"/>
                </a:solidFill>
                <a:latin typeface="+mn-lt"/>
                <a:sym typeface="Symbol" pitchFamily="18" charset="2"/>
              </a:rPr>
              <a:t>If </a:t>
            </a:r>
            <a:r>
              <a:rPr lang="en-US" altLang="zh-CN" sz="2800" b="1">
                <a:solidFill>
                  <a:srgbClr val="000099"/>
                </a:solidFill>
                <a:latin typeface="+mn-lt"/>
              </a:rPr>
              <a:t>Transient part </a:t>
            </a:r>
            <a:r>
              <a:rPr lang="en-US" altLang="zh-CN" sz="2800" b="1">
                <a:solidFill>
                  <a:srgbClr val="000099"/>
                </a:solidFill>
                <a:latin typeface="+mn-lt"/>
                <a:sym typeface="Symbol" pitchFamily="18" charset="2"/>
              </a:rPr>
              <a:t>0</a:t>
            </a: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2825552" y="4275559"/>
            <a:ext cx="35354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800" b="1">
                <a:solidFill>
                  <a:srgbClr val="000099"/>
                </a:solidFill>
                <a:latin typeface="+mn-lt"/>
                <a:sym typeface="Symbol" pitchFamily="18" charset="2"/>
              </a:rPr>
              <a:t>If </a:t>
            </a:r>
            <a:r>
              <a:rPr lang="en-US" altLang="zh-CN" sz="2800" b="1">
                <a:solidFill>
                  <a:srgbClr val="000099"/>
                </a:solidFill>
                <a:latin typeface="+mn-lt"/>
              </a:rPr>
              <a:t>Transient part </a:t>
            </a:r>
            <a:r>
              <a:rPr lang="en-US" altLang="zh-CN" sz="2800" b="1">
                <a:solidFill>
                  <a:srgbClr val="000099"/>
                </a:solidFill>
                <a:latin typeface="+mn-lt"/>
                <a:sym typeface="Symbol" pitchFamily="18" charset="2"/>
              </a:rPr>
              <a:t> 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39552" y="3894559"/>
            <a:ext cx="2209800" cy="762000"/>
            <a:chOff x="480" y="2496"/>
            <a:chExt cx="1392" cy="480"/>
          </a:xfrm>
        </p:grpSpPr>
        <p:sp>
          <p:nvSpPr>
            <p:cNvPr id="22546" name="Text Box 10"/>
            <p:cNvSpPr txBox="1">
              <a:spLocks noChangeArrowheads="1"/>
            </p:cNvSpPr>
            <p:nvPr/>
          </p:nvSpPr>
          <p:spPr bwMode="auto">
            <a:xfrm>
              <a:off x="480" y="2544"/>
              <a:ext cx="129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2800" b="1">
                  <a:solidFill>
                    <a:srgbClr val="000099"/>
                  </a:solidFill>
                  <a:latin typeface="+mn-lt"/>
                </a:rPr>
                <a:t>When t</a:t>
              </a:r>
              <a:r>
                <a:rPr lang="en-US" altLang="zh-CN" sz="2800" b="1">
                  <a:solidFill>
                    <a:srgbClr val="000099"/>
                  </a:solidFill>
                  <a:latin typeface="+mn-lt"/>
                  <a:sym typeface="Symbol" pitchFamily="18" charset="2"/>
                </a:rPr>
                <a:t></a:t>
              </a:r>
            </a:p>
          </p:txBody>
        </p:sp>
        <p:sp>
          <p:nvSpPr>
            <p:cNvPr id="22547" name="AutoShape 13"/>
            <p:cNvSpPr>
              <a:spLocks/>
            </p:cNvSpPr>
            <p:nvPr/>
          </p:nvSpPr>
          <p:spPr bwMode="auto">
            <a:xfrm>
              <a:off x="1728" y="2496"/>
              <a:ext cx="144" cy="480"/>
            </a:xfrm>
            <a:prstGeom prst="leftBrace">
              <a:avLst>
                <a:gd name="adj1" fmla="val 27778"/>
                <a:gd name="adj2" fmla="val 50000"/>
              </a:avLst>
            </a:prstGeom>
            <a:noFill/>
            <a:ln w="38100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solidFill>
                  <a:srgbClr val="000099"/>
                </a:solidFill>
                <a:latin typeface="+mn-lt"/>
              </a:endParaRPr>
            </a:p>
          </p:txBody>
        </p:sp>
      </p:grp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6406952" y="3665959"/>
            <a:ext cx="15263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 stable</a:t>
            </a: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6365677" y="4275559"/>
            <a:ext cx="21066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 unstable </a:t>
            </a: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3130352" y="4885159"/>
            <a:ext cx="1651000" cy="523220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+mn-lt"/>
              </a:rPr>
              <a:t>Transient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4959154" y="5266161"/>
            <a:ext cx="1803401" cy="1133476"/>
            <a:chOff x="3264" y="3408"/>
            <a:chExt cx="1136" cy="714"/>
          </a:xfrm>
          <a:solidFill>
            <a:srgbClr val="000099"/>
          </a:solidFill>
        </p:grpSpPr>
        <p:sp>
          <p:nvSpPr>
            <p:cNvPr id="22544" name="Line 18"/>
            <p:cNvSpPr>
              <a:spLocks noChangeShapeType="1"/>
            </p:cNvSpPr>
            <p:nvPr/>
          </p:nvSpPr>
          <p:spPr bwMode="auto">
            <a:xfrm>
              <a:off x="3264" y="3408"/>
              <a:ext cx="384" cy="288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2800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2545" name="Rectangle 19"/>
            <p:cNvSpPr>
              <a:spLocks noChangeArrowheads="1"/>
            </p:cNvSpPr>
            <p:nvPr/>
          </p:nvSpPr>
          <p:spPr bwMode="auto">
            <a:xfrm>
              <a:off x="3504" y="3792"/>
              <a:ext cx="896" cy="3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chemeClr val="bg1"/>
                  </a:solidFill>
                  <a:latin typeface="+mn-lt"/>
                  <a:sym typeface="Symbol" pitchFamily="18" charset="2"/>
                </a:rPr>
                <a:t>stability</a:t>
              </a:r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768152" y="5113759"/>
            <a:ext cx="2209800" cy="1309688"/>
            <a:chOff x="624" y="3312"/>
            <a:chExt cx="1392" cy="825"/>
          </a:xfrm>
          <a:solidFill>
            <a:srgbClr val="000099"/>
          </a:solidFill>
        </p:grpSpPr>
        <p:sp>
          <p:nvSpPr>
            <p:cNvPr id="22542" name="Rectangle 20"/>
            <p:cNvSpPr>
              <a:spLocks noChangeArrowheads="1"/>
            </p:cNvSpPr>
            <p:nvPr/>
          </p:nvSpPr>
          <p:spPr bwMode="auto">
            <a:xfrm>
              <a:off x="624" y="3645"/>
              <a:ext cx="1197" cy="49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800" b="1">
                  <a:solidFill>
                    <a:schemeClr val="bg1"/>
                  </a:solidFill>
                  <a:latin typeface="+mn-lt"/>
                </a:rPr>
                <a:t>closed-loop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800" b="1">
                  <a:solidFill>
                    <a:schemeClr val="bg1"/>
                  </a:solidFill>
                  <a:latin typeface="+mn-lt"/>
                </a:rPr>
                <a:t> poles</a:t>
              </a:r>
            </a:p>
          </p:txBody>
        </p:sp>
        <p:sp>
          <p:nvSpPr>
            <p:cNvPr id="22543" name="Line 21"/>
            <p:cNvSpPr>
              <a:spLocks noChangeShapeType="1"/>
            </p:cNvSpPr>
            <p:nvPr/>
          </p:nvSpPr>
          <p:spPr bwMode="auto">
            <a:xfrm flipV="1">
              <a:off x="1536" y="3312"/>
              <a:ext cx="480" cy="24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2800" b="1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048" name="Line 24"/>
          <p:cNvSpPr>
            <a:spLocks noChangeShapeType="1"/>
          </p:cNvSpPr>
          <p:nvPr/>
        </p:nvSpPr>
        <p:spPr bwMode="auto">
          <a:xfrm>
            <a:off x="2901752" y="6180559"/>
            <a:ext cx="21336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2800" b="1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utoUpdateAnimBg="0"/>
      <p:bldP spid="1035" grpId="0" autoUpdateAnimBg="0"/>
      <p:bldP spid="1036" grpId="0" autoUpdateAnimBg="0"/>
      <p:bldP spid="1039" grpId="0" autoUpdateAnimBg="0"/>
      <p:bldP spid="1040" grpId="0" autoUpdateAnimBg="0"/>
      <p:bldP spid="1041" grpId="0" animBg="1" autoUpdateAnimBg="0"/>
      <p:bldP spid="10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41771"/>
            <a:ext cx="7633096" cy="124301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 smtClean="0"/>
              <a:t>   9.2 Routh’s Stability Criterion</a:t>
            </a:r>
            <a:br>
              <a:rPr lang="en-US" altLang="zh-CN" dirty="0" smtClean="0"/>
            </a:br>
            <a:r>
              <a:rPr lang="zh-CN" altLang="en-US" dirty="0" smtClean="0"/>
              <a:t>（劳斯稳定性判据）</a:t>
            </a:r>
            <a:endParaRPr lang="en-US" altLang="zh-CN" dirty="0" smtClean="0"/>
          </a:p>
        </p:txBody>
      </p:sp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539750" y="3410769"/>
            <a:ext cx="4876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800" b="1">
                <a:solidFill>
                  <a:srgbClr val="000099"/>
                </a:solidFill>
                <a:latin typeface="+mn-lt"/>
              </a:rPr>
              <a:t>characteristic equation:</a:t>
            </a: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4787900" y="3483794"/>
          <a:ext cx="22320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90" name="Equation" r:id="rId3" imgW="1002960" imgH="203040" progId="Equation.DSMT4">
                  <p:embed/>
                </p:oleObj>
              </mc:Choice>
              <mc:Fallback>
                <p:oleObj name="Equation" r:id="rId3" imgW="1002960" imgH="203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483794"/>
                        <a:ext cx="2232025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971550" y="4005064"/>
          <a:ext cx="7239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91" name="Equation" r:id="rId5" imgW="2768400" imgH="228600" progId="Equation.DSMT4">
                  <p:embed/>
                </p:oleObj>
              </mc:Choice>
              <mc:Fallback>
                <p:oleObj name="Equation" r:id="rId5" imgW="27684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05064"/>
                        <a:ext cx="7239000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Rectangle 12"/>
          <p:cNvSpPr>
            <a:spLocks noChangeArrowheads="1"/>
          </p:cNvSpPr>
          <p:nvPr/>
        </p:nvSpPr>
        <p:spPr bwMode="auto">
          <a:xfrm>
            <a:off x="468313" y="1700808"/>
            <a:ext cx="5472112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800" b="1">
                <a:solidFill>
                  <a:srgbClr val="000099"/>
                </a:solidFill>
                <a:latin typeface="+mn-lt"/>
              </a:rPr>
              <a:t>closed-loop transfer function:</a:t>
            </a:r>
            <a:endParaRPr lang="zh-CN" altLang="zh-CN" sz="2800" b="1">
              <a:solidFill>
                <a:srgbClr val="000099"/>
              </a:solidFill>
              <a:latin typeface="+mn-lt"/>
            </a:endParaRPr>
          </a:p>
        </p:txBody>
      </p:sp>
      <p:graphicFrame>
        <p:nvGraphicFramePr>
          <p:cNvPr id="72735" name="Object 31"/>
          <p:cNvGraphicFramePr>
            <a:graphicFrameLocks noChangeAspect="1"/>
          </p:cNvGraphicFramePr>
          <p:nvPr/>
        </p:nvGraphicFramePr>
        <p:xfrm>
          <a:off x="1258888" y="2204045"/>
          <a:ext cx="27432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92" name="Equation" r:id="rId7" imgW="2209680" imgH="672840" progId="Equation.DSMT4">
                  <p:embed/>
                </p:oleObj>
              </mc:Choice>
              <mc:Fallback>
                <p:oleObj name="Equation" r:id="rId7" imgW="2209680" imgH="6728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204045"/>
                        <a:ext cx="2743200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27"/>
          <p:cNvGrpSpPr>
            <a:grpSpLocks/>
          </p:cNvGrpSpPr>
          <p:nvPr/>
        </p:nvGrpSpPr>
        <p:grpSpPr bwMode="auto">
          <a:xfrm>
            <a:off x="468313" y="4724400"/>
            <a:ext cx="5832475" cy="579438"/>
            <a:chOff x="467544" y="4725144"/>
            <a:chExt cx="5832648" cy="579231"/>
          </a:xfrm>
        </p:grpSpPr>
        <p:sp>
          <p:nvSpPr>
            <p:cNvPr id="1054" name="Text Box 41"/>
            <p:cNvSpPr txBox="1">
              <a:spLocks noChangeArrowheads="1"/>
            </p:cNvSpPr>
            <p:nvPr/>
          </p:nvSpPr>
          <p:spPr bwMode="auto">
            <a:xfrm>
              <a:off x="467544" y="4797152"/>
              <a:ext cx="4320480" cy="473075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</p:spPr>
          <p:txBody>
            <a:bodyPr bIns="0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0099"/>
                  </a:solidFill>
                  <a:latin typeface="+mn-lt"/>
                </a:rPr>
                <a:t>characteristic roots are: </a:t>
              </a:r>
            </a:p>
          </p:txBody>
        </p:sp>
        <p:graphicFrame>
          <p:nvGraphicFramePr>
            <p:cNvPr id="1033" name="Object 42"/>
            <p:cNvGraphicFramePr>
              <a:graphicFrameLocks noChangeAspect="1"/>
            </p:cNvGraphicFramePr>
            <p:nvPr/>
          </p:nvGraphicFramePr>
          <p:xfrm>
            <a:off x="4499992" y="4725144"/>
            <a:ext cx="1800200" cy="579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893" name="Equation" r:id="rId9" imgW="711000" imgH="228600" progId="Equation.3">
                    <p:embed/>
                  </p:oleObj>
                </mc:Choice>
                <mc:Fallback>
                  <p:oleObj name="Equation" r:id="rId9" imgW="711000" imgH="2286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9992" y="4725144"/>
                          <a:ext cx="1800200" cy="579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26"/>
          <p:cNvGrpSpPr>
            <a:grpSpLocks/>
          </p:cNvGrpSpPr>
          <p:nvPr/>
        </p:nvGrpSpPr>
        <p:grpSpPr bwMode="auto">
          <a:xfrm>
            <a:off x="5364163" y="1484313"/>
            <a:ext cx="3643312" cy="1905000"/>
            <a:chOff x="5321175" y="1762324"/>
            <a:chExt cx="3643313" cy="1905001"/>
          </a:xfrm>
        </p:grpSpPr>
        <p:sp>
          <p:nvSpPr>
            <p:cNvPr id="1042" name="Line 108"/>
            <p:cNvSpPr>
              <a:spLocks noChangeShapeType="1"/>
            </p:cNvSpPr>
            <p:nvPr/>
          </p:nvSpPr>
          <p:spPr bwMode="auto">
            <a:xfrm>
              <a:off x="6165725" y="2292549"/>
              <a:ext cx="588963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043" name="Line 109"/>
            <p:cNvSpPr>
              <a:spLocks noChangeShapeType="1"/>
            </p:cNvSpPr>
            <p:nvPr/>
          </p:nvSpPr>
          <p:spPr bwMode="auto">
            <a:xfrm>
              <a:off x="7985000" y="2292549"/>
              <a:ext cx="736600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graphicFrame>
          <p:nvGraphicFramePr>
            <p:cNvPr id="1029" name="Object 90"/>
            <p:cNvGraphicFramePr>
              <a:graphicFrameLocks noChangeAspect="1"/>
            </p:cNvGraphicFramePr>
            <p:nvPr/>
          </p:nvGraphicFramePr>
          <p:xfrm>
            <a:off x="8583488" y="1762324"/>
            <a:ext cx="38100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894" name="Equation" r:id="rId11" imgW="152280" imgH="177480" progId="Equation.3">
                    <p:embed/>
                  </p:oleObj>
                </mc:Choice>
                <mc:Fallback>
                  <p:oleObj name="Equation" r:id="rId11" imgW="152280" imgH="177480" progId="Equation.3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83488" y="1762324"/>
                          <a:ext cx="381000" cy="454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Group 111"/>
            <p:cNvGrpSpPr>
              <a:grpSpLocks/>
            </p:cNvGrpSpPr>
            <p:nvPr/>
          </p:nvGrpSpPr>
          <p:grpSpPr bwMode="auto">
            <a:xfrm>
              <a:off x="6741988" y="1911549"/>
              <a:ext cx="1243013" cy="787400"/>
              <a:chOff x="1824" y="1631"/>
              <a:chExt cx="810" cy="499"/>
            </a:xfrm>
          </p:grpSpPr>
          <p:sp>
            <p:nvSpPr>
              <p:cNvPr id="1053" name="Rectangle 112"/>
              <p:cNvSpPr>
                <a:spLocks noChangeArrowheads="1"/>
              </p:cNvSpPr>
              <p:nvPr/>
            </p:nvSpPr>
            <p:spPr bwMode="auto">
              <a:xfrm>
                <a:off x="1824" y="1631"/>
                <a:ext cx="810" cy="499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bIns="0" anchor="ctr"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</a:endParaRPr>
              </a:p>
            </p:txBody>
          </p:sp>
          <p:graphicFrame>
            <p:nvGraphicFramePr>
              <p:cNvPr id="1032" name="Object 91"/>
              <p:cNvGraphicFramePr>
                <a:graphicFrameLocks noChangeAspect="1"/>
              </p:cNvGraphicFramePr>
              <p:nvPr/>
            </p:nvGraphicFramePr>
            <p:xfrm>
              <a:off x="1977" y="1718"/>
              <a:ext cx="563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5895" name="Equation" r:id="rId13" imgW="330120" imgH="203040" progId="Equation.DSMT4">
                      <p:embed/>
                    </p:oleObj>
                  </mc:Choice>
                  <mc:Fallback>
                    <p:oleObj name="Equation" r:id="rId13" imgW="330120" imgH="203040" progId="Equation.DSMT4">
                      <p:embed/>
                      <p:pic>
                        <p:nvPicPr>
                          <p:cNvPr id="0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77" y="1718"/>
                            <a:ext cx="563" cy="3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17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45" name="Oval 114"/>
            <p:cNvSpPr>
              <a:spLocks noChangeArrowheads="1"/>
            </p:cNvSpPr>
            <p:nvPr/>
          </p:nvSpPr>
          <p:spPr bwMode="auto">
            <a:xfrm>
              <a:off x="5926013" y="2154437"/>
              <a:ext cx="295275" cy="303213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bIns="0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046" name="Line 116"/>
            <p:cNvSpPr>
              <a:spLocks noChangeShapeType="1"/>
            </p:cNvSpPr>
            <p:nvPr/>
          </p:nvSpPr>
          <p:spPr bwMode="auto">
            <a:xfrm>
              <a:off x="6181600" y="2625924"/>
              <a:ext cx="147638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047" name="Line 117"/>
            <p:cNvSpPr>
              <a:spLocks noChangeShapeType="1"/>
            </p:cNvSpPr>
            <p:nvPr/>
          </p:nvSpPr>
          <p:spPr bwMode="auto">
            <a:xfrm>
              <a:off x="5327525" y="2305249"/>
              <a:ext cx="588963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graphicFrame>
          <p:nvGraphicFramePr>
            <p:cNvPr id="1030" name="Object 93"/>
            <p:cNvGraphicFramePr>
              <a:graphicFrameLocks noChangeAspect="1"/>
            </p:cNvGraphicFramePr>
            <p:nvPr/>
          </p:nvGraphicFramePr>
          <p:xfrm>
            <a:off x="5321175" y="1851224"/>
            <a:ext cx="341313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896" name="Equation" r:id="rId15" imgW="152280" imgH="164880" progId="Equation.3">
                    <p:embed/>
                  </p:oleObj>
                </mc:Choice>
                <mc:Fallback>
                  <p:oleObj name="Equation" r:id="rId15" imgW="152280" imgH="164880" progId="Equation.3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1175" y="1851224"/>
                          <a:ext cx="341313" cy="377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8" name="Line 119"/>
            <p:cNvSpPr>
              <a:spLocks noChangeShapeType="1"/>
            </p:cNvSpPr>
            <p:nvPr/>
          </p:nvSpPr>
          <p:spPr bwMode="auto">
            <a:xfrm flipH="1" flipV="1">
              <a:off x="7842125" y="3286324"/>
              <a:ext cx="5461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049" name="Line 120"/>
            <p:cNvSpPr>
              <a:spLocks noChangeShapeType="1"/>
            </p:cNvSpPr>
            <p:nvPr/>
          </p:nvSpPr>
          <p:spPr bwMode="auto">
            <a:xfrm flipH="1" flipV="1">
              <a:off x="6068888" y="3286324"/>
              <a:ext cx="609600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050" name="Rectangle 121"/>
            <p:cNvSpPr>
              <a:spLocks noChangeArrowheads="1"/>
            </p:cNvSpPr>
            <p:nvPr/>
          </p:nvSpPr>
          <p:spPr bwMode="auto">
            <a:xfrm>
              <a:off x="6678488" y="2986287"/>
              <a:ext cx="1163638" cy="68103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graphicFrame>
          <p:nvGraphicFramePr>
            <p:cNvPr id="1031" name="Object 94"/>
            <p:cNvGraphicFramePr>
              <a:graphicFrameLocks noChangeAspect="1"/>
            </p:cNvGraphicFramePr>
            <p:nvPr/>
          </p:nvGraphicFramePr>
          <p:xfrm>
            <a:off x="6834063" y="3091062"/>
            <a:ext cx="784225" cy="541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897" name="Equation" r:id="rId17" imgW="355320" imgH="203040" progId="Equation.DSMT4">
                    <p:embed/>
                  </p:oleObj>
                </mc:Choice>
                <mc:Fallback>
                  <p:oleObj name="Equation" r:id="rId17" imgW="355320" imgH="203040" progId="Equation.DSMT4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4063" y="3091062"/>
                          <a:ext cx="784225" cy="54133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1" name="Line 123"/>
            <p:cNvSpPr>
              <a:spLocks noChangeShapeType="1"/>
            </p:cNvSpPr>
            <p:nvPr/>
          </p:nvSpPr>
          <p:spPr bwMode="auto">
            <a:xfrm>
              <a:off x="8375525" y="2295724"/>
              <a:ext cx="0" cy="99060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052" name="Line 124"/>
            <p:cNvSpPr>
              <a:spLocks noChangeShapeType="1"/>
            </p:cNvSpPr>
            <p:nvPr/>
          </p:nvSpPr>
          <p:spPr bwMode="auto">
            <a:xfrm flipV="1">
              <a:off x="6068888" y="2448124"/>
              <a:ext cx="0" cy="83820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bIns="0"/>
            <a:lstStyle/>
            <a:p>
              <a:endParaRPr lang="zh-CN" altLang="en-US" b="1">
                <a:solidFill>
                  <a:srgbClr val="000099"/>
                </a:solidFill>
                <a:latin typeface="+mn-lt"/>
              </a:endParaRPr>
            </a:p>
          </p:txBody>
        </p:sp>
      </p:grpSp>
      <p:sp>
        <p:nvSpPr>
          <p:cNvPr id="129" name="Rectangle 4"/>
          <p:cNvSpPr>
            <a:spLocks noChangeArrowheads="1"/>
          </p:cNvSpPr>
          <p:nvPr/>
        </p:nvSpPr>
        <p:spPr bwMode="auto">
          <a:xfrm>
            <a:off x="611188" y="5462736"/>
            <a:ext cx="2362200" cy="990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tIns="82800" bIns="82800" anchor="ctr"/>
          <a:lstStyle/>
          <a:p>
            <a:r>
              <a:rPr lang="en-US" altLang="zh-CN" sz="2800" b="1">
                <a:solidFill>
                  <a:srgbClr val="000099"/>
                </a:solidFill>
                <a:latin typeface="+mn-lt"/>
              </a:rPr>
              <a:t>Coefficients</a:t>
            </a:r>
          </a:p>
          <a:p>
            <a:r>
              <a:rPr lang="en-US" altLang="zh-CN" sz="2800" b="1">
                <a:solidFill>
                  <a:srgbClr val="000099"/>
                </a:solidFill>
                <a:latin typeface="+mn-lt"/>
              </a:rPr>
              <a:t> a</a:t>
            </a:r>
            <a:r>
              <a:rPr lang="en-US" altLang="zh-CN" sz="2800" b="1" baseline="-25000">
                <a:solidFill>
                  <a:srgbClr val="000099"/>
                </a:solidFill>
                <a:latin typeface="+mn-lt"/>
              </a:rPr>
              <a:t>0</a:t>
            </a:r>
            <a:r>
              <a:rPr lang="en-US" altLang="zh-CN" sz="2800" b="1">
                <a:solidFill>
                  <a:srgbClr val="000099"/>
                </a:solidFill>
                <a:latin typeface="+mn-lt"/>
              </a:rPr>
              <a:t>, a</a:t>
            </a:r>
            <a:r>
              <a:rPr lang="en-US" altLang="zh-CN" sz="2800" b="1" baseline="-25000">
                <a:solidFill>
                  <a:srgbClr val="000099"/>
                </a:solidFill>
                <a:latin typeface="+mn-lt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latin typeface="+mn-lt"/>
              </a:rPr>
              <a:t>…a</a:t>
            </a:r>
            <a:r>
              <a:rPr lang="en-US" altLang="zh-CN" sz="2800" b="1" baseline="-25000">
                <a:solidFill>
                  <a:srgbClr val="000099"/>
                </a:solidFill>
                <a:latin typeface="+mn-lt"/>
              </a:rPr>
              <a:t>n</a:t>
            </a:r>
          </a:p>
        </p:txBody>
      </p:sp>
      <p:sp>
        <p:nvSpPr>
          <p:cNvPr id="131" name="Rectangle 6"/>
          <p:cNvSpPr>
            <a:spLocks noChangeArrowheads="1"/>
          </p:cNvSpPr>
          <p:nvPr/>
        </p:nvSpPr>
        <p:spPr bwMode="auto">
          <a:xfrm>
            <a:off x="5795963" y="5462736"/>
            <a:ext cx="2535237" cy="91440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000099"/>
                </a:solidFill>
                <a:latin typeface="+mn-lt"/>
              </a:rPr>
              <a:t> </a:t>
            </a:r>
            <a:r>
              <a:rPr lang="en-US" altLang="zh-CN" sz="3200" b="1">
                <a:solidFill>
                  <a:srgbClr val="000099"/>
                </a:solidFill>
                <a:latin typeface="+mn-lt"/>
              </a:rPr>
              <a:t>stability</a:t>
            </a:r>
          </a:p>
        </p:txBody>
      </p:sp>
      <p:sp>
        <p:nvSpPr>
          <p:cNvPr id="132" name="AutoShape 7"/>
          <p:cNvSpPr>
            <a:spLocks noChangeArrowheads="1"/>
          </p:cNvSpPr>
          <p:nvPr/>
        </p:nvSpPr>
        <p:spPr bwMode="auto">
          <a:xfrm>
            <a:off x="3059113" y="5534174"/>
            <a:ext cx="2665412" cy="792162"/>
          </a:xfrm>
          <a:prstGeom prst="rightArrow">
            <a:avLst>
              <a:gd name="adj1" fmla="val 50000"/>
              <a:gd name="adj2" fmla="val 80021"/>
            </a:avLst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2400" b="1">
                <a:solidFill>
                  <a:srgbClr val="000099"/>
                </a:solidFill>
                <a:latin typeface="+mn-lt"/>
              </a:rPr>
              <a:t>Routh’s Criterion</a:t>
            </a:r>
            <a:endParaRPr lang="zh-CN" altLang="en-US" sz="2400" b="1">
              <a:solidFill>
                <a:srgbClr val="000099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/>
      <p:bldP spid="72716" grpId="0"/>
      <p:bldP spid="129" grpId="0" animBg="1"/>
      <p:bldP spid="131" grpId="0" animBg="1"/>
      <p:bldP spid="132" grpId="0" animBg="1"/>
    </p:bld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